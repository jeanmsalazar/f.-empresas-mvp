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cb32d05eae44d9" /><Relationship Type="http://schemas.openxmlformats.org/officeDocument/2006/relationships/extended-properties" Target="/docProps/app.xml" Id="R93160e16a0e841c5" /><Relationship Type="http://schemas.openxmlformats.org/officeDocument/2006/relationships/officeDocument" Target="/ppt/presentation.xml" Id="R35b584c3232e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98559f3d1442f"/>
  </p:sldMasterIdLst>
  <p:notesMasterIdLst>
    <p:notesMasterId xmlns:r="http://schemas.openxmlformats.org/officeDocument/2006/relationships" r:id="R590653dac7eb4aeb"/>
  </p:notesMasterIdLst>
  <p:sldIdLst>
    <p:sldId xmlns:r="http://schemas.openxmlformats.org/officeDocument/2006/relationships" id="256" r:id="R94598adefdbd4059"/>
    <p:sldId xmlns:r="http://schemas.openxmlformats.org/officeDocument/2006/relationships" id="257" r:id="R7ead36cec1384838"/>
    <p:sldId xmlns:r="http://schemas.openxmlformats.org/officeDocument/2006/relationships" id="258" r:id="R413c400592924f61"/>
    <p:sldId xmlns:r="http://schemas.openxmlformats.org/officeDocument/2006/relationships" id="259" r:id="R58118095bdd04223"/>
    <p:sldId xmlns:r="http://schemas.openxmlformats.org/officeDocument/2006/relationships" id="260" r:id="R88aefddb2ca641f5"/>
    <p:sldId xmlns:r="http://schemas.openxmlformats.org/officeDocument/2006/relationships" id="261" r:id="Rea575cebd65b4598"/>
    <p:sldId xmlns:r="http://schemas.openxmlformats.org/officeDocument/2006/relationships" id="262" r:id="R549c863ead3d401d"/>
    <p:sldId xmlns:r="http://schemas.openxmlformats.org/officeDocument/2006/relationships" id="263" r:id="Raf1b9d4fe93244c4"/>
    <p:sldId xmlns:r="http://schemas.openxmlformats.org/officeDocument/2006/relationships" id="264" r:id="R07e9032e70eb43d7"/>
    <p:sldId xmlns:r="http://schemas.openxmlformats.org/officeDocument/2006/relationships" id="265" r:id="Rffc81cf449b44d40"/>
    <p:sldId xmlns:r="http://schemas.openxmlformats.org/officeDocument/2006/relationships" id="266" r:id="R30e89d6139b3488c"/>
    <p:sldId xmlns:r="http://schemas.openxmlformats.org/officeDocument/2006/relationships" id="267" r:id="R788a86593579404d"/>
    <p:sldId xmlns:r="http://schemas.openxmlformats.org/officeDocument/2006/relationships" id="268" r:id="R3549075de1144cea"/>
    <p:sldId xmlns:r="http://schemas.openxmlformats.org/officeDocument/2006/relationships" id="269" r:id="R4e9b82fee4f846de"/>
    <p:sldId xmlns:r="http://schemas.openxmlformats.org/officeDocument/2006/relationships" id="270" r:id="R938a6ebbc3ab4291"/>
    <p:sldId xmlns:r="http://schemas.openxmlformats.org/officeDocument/2006/relationships" id="271" r:id="R0d5b9cdb9c55417d"/>
    <p:sldId xmlns:r="http://schemas.openxmlformats.org/officeDocument/2006/relationships" id="272" r:id="R822684c5d12b4edc"/>
    <p:sldId xmlns:r="http://schemas.openxmlformats.org/officeDocument/2006/relationships" id="273" r:id="R95f19cd384fb4d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8b1b7ef3445f1" /><Relationship Type="http://schemas.openxmlformats.org/officeDocument/2006/relationships/slideMaster" Target="/ppt/slideMasters/slideMaster1.xml" Id="R1e398559f3d1442f" /><Relationship Type="http://schemas.openxmlformats.org/officeDocument/2006/relationships/notesMaster" Target="/ppt/notesMasters/notesMaster1.xml" Id="R590653dac7eb4aeb" /><Relationship Type="http://schemas.openxmlformats.org/officeDocument/2006/relationships/presProps" Target="/ppt/presProps.xml" Id="R161918c16b204823" /><Relationship Type="http://schemas.openxmlformats.org/officeDocument/2006/relationships/tableStyles" Target="/ppt/tableStyles.xml" Id="Rc6b73fb662324224" /><Relationship Type="http://schemas.openxmlformats.org/officeDocument/2006/relationships/slide" Target="/ppt/slides/slide1.xml" Id="R94598adefdbd4059" /><Relationship Type="http://schemas.openxmlformats.org/officeDocument/2006/relationships/slide" Target="/ppt/slides/slide2.xml" Id="R7ead36cec1384838" /><Relationship Type="http://schemas.openxmlformats.org/officeDocument/2006/relationships/slide" Target="/ppt/slides/slide3.xml" Id="R413c400592924f61" /><Relationship Type="http://schemas.openxmlformats.org/officeDocument/2006/relationships/slide" Target="/ppt/slides/slide4.xml" Id="R58118095bdd04223" /><Relationship Type="http://schemas.openxmlformats.org/officeDocument/2006/relationships/slide" Target="/ppt/slides/slide5.xml" Id="R88aefddb2ca641f5" /><Relationship Type="http://schemas.openxmlformats.org/officeDocument/2006/relationships/slide" Target="/ppt/slides/slide6.xml" Id="Rea575cebd65b4598" /><Relationship Type="http://schemas.openxmlformats.org/officeDocument/2006/relationships/slide" Target="/ppt/slides/slide7.xml" Id="R549c863ead3d401d" /><Relationship Type="http://schemas.openxmlformats.org/officeDocument/2006/relationships/slide" Target="/ppt/slides/slide8.xml" Id="Raf1b9d4fe93244c4" /><Relationship Type="http://schemas.openxmlformats.org/officeDocument/2006/relationships/slide" Target="/ppt/slides/slide9.xml" Id="R07e9032e70eb43d7" /><Relationship Type="http://schemas.openxmlformats.org/officeDocument/2006/relationships/slide" Target="/ppt/slides/slide10.xml" Id="Rffc81cf449b44d40" /><Relationship Type="http://schemas.openxmlformats.org/officeDocument/2006/relationships/slide" Target="/ppt/slides/slide11.xml" Id="R30e89d6139b3488c" /><Relationship Type="http://schemas.openxmlformats.org/officeDocument/2006/relationships/slide" Target="/ppt/slides/slide12.xml" Id="R788a86593579404d" /><Relationship Type="http://schemas.openxmlformats.org/officeDocument/2006/relationships/slide" Target="/ppt/slides/slide13.xml" Id="R3549075de1144cea" /><Relationship Type="http://schemas.openxmlformats.org/officeDocument/2006/relationships/slide" Target="/ppt/slides/slide14.xml" Id="R4e9b82fee4f846de" /><Relationship Type="http://schemas.openxmlformats.org/officeDocument/2006/relationships/slide" Target="/ppt/slides/slide15.xml" Id="R938a6ebbc3ab4291" /><Relationship Type="http://schemas.openxmlformats.org/officeDocument/2006/relationships/slide" Target="/ppt/slides/slide16.xml" Id="R0d5b9cdb9c55417d" /><Relationship Type="http://schemas.openxmlformats.org/officeDocument/2006/relationships/slide" Target="/ppt/slides/slide17.xml" Id="R822684c5d12b4edc" /><Relationship Type="http://schemas.openxmlformats.org/officeDocument/2006/relationships/slide" Target="/ppt/slides/slide18.xml" Id="R95f19cd384fb4d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57969aeeca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89641bf5b4ba7" /><Relationship Type="http://schemas.openxmlformats.org/officeDocument/2006/relationships/notesMaster" Target="/ppt/notesMasters/notesMaster1.xml" Id="R5748693f119941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b5148aaf7c44dc" /><Relationship Type="http://schemas.openxmlformats.org/officeDocument/2006/relationships/notesMaster" Target="/ppt/notesMasters/notesMaster1.xml" Id="Re30d4b8a95dc4b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3c85bf4bc4afc" /><Relationship Type="http://schemas.openxmlformats.org/officeDocument/2006/relationships/notesMaster" Target="/ppt/notesMasters/notesMaster1.xml" Id="R4ec137bbd8664e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b4b3d2f9d49b7" /><Relationship Type="http://schemas.openxmlformats.org/officeDocument/2006/relationships/notesMaster" Target="/ppt/notesMasters/notesMaster1.xml" Id="R5e1124dfe3f3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fcc8e310614da7" /><Relationship Type="http://schemas.openxmlformats.org/officeDocument/2006/relationships/notesMaster" Target="/ppt/notesMasters/notesMaster1.xml" Id="Rcb0bd0a6314b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b344e0acb645e0" /><Relationship Type="http://schemas.openxmlformats.org/officeDocument/2006/relationships/notesMaster" Target="/ppt/notesMasters/notesMaster1.xml" Id="R19ff7134e513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6759d1529454d" /><Relationship Type="http://schemas.openxmlformats.org/officeDocument/2006/relationships/notesMaster" Target="/ppt/notesMasters/notesMaster1.xml" Id="Rd271fe266ea843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9e89475086440d" /><Relationship Type="http://schemas.openxmlformats.org/officeDocument/2006/relationships/notesMaster" Target="/ppt/notesMasters/notesMaster1.xml" Id="Rb1aac8e6284f44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24715abf3d4d91" /><Relationship Type="http://schemas.openxmlformats.org/officeDocument/2006/relationships/notesMaster" Target="/ppt/notesMasters/notesMaster1.xml" Id="R6437cee39f5540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c8d5963b1c4d23" /><Relationship Type="http://schemas.openxmlformats.org/officeDocument/2006/relationships/notesMaster" Target="/ppt/notesMasters/notesMaster1.xml" Id="R384a6db003814a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37d0fbaacc4d9b" /><Relationship Type="http://schemas.openxmlformats.org/officeDocument/2006/relationships/notesMaster" Target="/ppt/notesMasters/notesMaster1.xml" Id="R3c74cb52562848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fa09c78e424a6e" /><Relationship Type="http://schemas.openxmlformats.org/officeDocument/2006/relationships/notesMaster" Target="/ppt/notesMasters/notesMaster1.xml" Id="R7f344f84e48d45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9c2f7a330c4e32" /><Relationship Type="http://schemas.openxmlformats.org/officeDocument/2006/relationships/notesMaster" Target="/ppt/notesMasters/notesMaster1.xml" Id="Rf6cfc40f84d540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e9d1d93eea4bf2" /><Relationship Type="http://schemas.openxmlformats.org/officeDocument/2006/relationships/notesMaster" Target="/ppt/notesMasters/notesMaster1.xml" Id="Rc61a1293eef045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f33a102a244c89" /><Relationship Type="http://schemas.openxmlformats.org/officeDocument/2006/relationships/notesMaster" Target="/ppt/notesMasters/notesMaster1.xml" Id="R9a5982a740044f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6429c0bf0d4b7d" /><Relationship Type="http://schemas.openxmlformats.org/officeDocument/2006/relationships/notesMaster" Target="/ppt/notesMasters/notesMaster1.xml" Id="Rd766d1bab54342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57b25496f843b9" /><Relationship Type="http://schemas.openxmlformats.org/officeDocument/2006/relationships/notesMaster" Target="/ppt/notesMasters/notesMaster1.xml" Id="Re4cd205aee8148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65c751df744573" /><Relationship Type="http://schemas.openxmlformats.org/officeDocument/2006/relationships/notesMaster" Target="/ppt/notesMasters/notesMaster1.xml" Id="Rc2495b9a5bc8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interfaces HTML del prototipo. La captura proviene de la aplicación local en modo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basado en MODULES.md, roadmap.md y tech_stack.md. La meta de 10 a 20 maestros es una propuesta de piloto, no una cifra observada.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flujo está representado en el mockup local. Para usuarios reales falta configurar Supabase Cloud y ejecutar la migración.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modo demostración los botones de acceso crean una sesión local. Supabase Auth está previsto para el piloto con usuarios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de la sesión de maestro en el modo demostración. La bandeja y cotización están implementadas en el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mockup Angular ejecutado localmente en modo demostración. Los nombres, solicitudes, precios y calificaciones visibles son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capturas muestran datos ficticios. El correo de notificaciones es una integración prevista, no activa en el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basada en los documentos del proyecto. El backend no está desplegado; la app actual funciona en modo demo con localStorage.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Angular Material figura en tech_stack.md y package.json, pero las pantallas actuales usan principalmente CSS propio.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hay backend Supabase activo en estas capturas. El repositorio contiene una migración SQL con tablas, RLS, PostGIS y Storage, además de configuración de Vercel. Los documentos iniciales contemplan Prisma, pero el prototipo usa SQL de Supabase por las funciones y políticas de base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388a5a94b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9ce09dc994976" /><Relationship Type="http://schemas.openxmlformats.org/officeDocument/2006/relationships/slideLayout" Target="/ppt/slideLayouts/slideLayout1.xml" Id="R4c595c013682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595c013682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638275bf4a18" /><Relationship Type="http://schemas.openxmlformats.org/officeDocument/2006/relationships/image" Target="/ppt/media/image.jpeg" Id="Rcc5b2385a60e40a7" /><Relationship Type="http://schemas.openxmlformats.org/officeDocument/2006/relationships/notesSlide" Target="/ppt/notesSlides/notesSlide1.xml" Id="R4d01fef2432c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b9bd851214907" /><Relationship Type="http://schemas.openxmlformats.org/officeDocument/2006/relationships/notesSlide" Target="/ppt/notesSlides/notesSlide2.xml" Id="R1f08129e7937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18597867249c8" /><Relationship Type="http://schemas.openxmlformats.org/officeDocument/2006/relationships/notesSlide" Target="/ppt/notesSlides/notesSlide3.xml" Id="Rf42fbce19f3a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ca016540b4f85" /><Relationship Type="http://schemas.openxmlformats.org/officeDocument/2006/relationships/image" Target="/ppt/media/image2.jpeg" Id="R6d1eda1d1aed48ef" /><Relationship Type="http://schemas.openxmlformats.org/officeDocument/2006/relationships/notesSlide" Target="/ppt/notesSlides/notesSlide4.xml" Id="R6f2c759c5e3f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77d8c5c9f4f36" /><Relationship Type="http://schemas.openxmlformats.org/officeDocument/2006/relationships/image" Target="/ppt/media/image3.jpeg" Id="R974a2809557e4cd0" /><Relationship Type="http://schemas.openxmlformats.org/officeDocument/2006/relationships/notesSlide" Target="/ppt/notesSlides/notesSlide5.xml" Id="R79645f105afd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0a78dc68a4490" /><Relationship Type="http://schemas.openxmlformats.org/officeDocument/2006/relationships/image" Target="/ppt/media/image4.jpeg" Id="R210522f0429449de" /><Relationship Type="http://schemas.openxmlformats.org/officeDocument/2006/relationships/notesSlide" Target="/ppt/notesSlides/notesSlide6.xml" Id="Rfa5ab9dde987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1cf6cefd44943" /><Relationship Type="http://schemas.openxmlformats.org/officeDocument/2006/relationships/image" Target="/ppt/media/image5.jpeg" Id="Rda4be470c76b40a6" /><Relationship Type="http://schemas.openxmlformats.org/officeDocument/2006/relationships/notesSlide" Target="/ppt/notesSlides/notesSlide7.xml" Id="R13878b7a26b342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272455d504520" /><Relationship Type="http://schemas.openxmlformats.org/officeDocument/2006/relationships/image" Target="/ppt/media/image6.jpeg" Id="Rb4015e695960470e" /><Relationship Type="http://schemas.openxmlformats.org/officeDocument/2006/relationships/image" Target="/ppt/media/image7.jpeg" Id="R99e491481d884659" /><Relationship Type="http://schemas.openxmlformats.org/officeDocument/2006/relationships/notesSlide" Target="/ppt/notesSlides/notesSlide8.xml" Id="R1c57010d1a7948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7656ad9804dd5" /><Relationship Type="http://schemas.openxmlformats.org/officeDocument/2006/relationships/image" Target="/ppt/media/image8.jpeg" Id="R494589c74c5b4eb8" /><Relationship Type="http://schemas.openxmlformats.org/officeDocument/2006/relationships/notesSlide" Target="/ppt/notesSlides/notesSlide9.xml" Id="R4d874bba0e34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25ecaabeb4806" /><Relationship Type="http://schemas.openxmlformats.org/officeDocument/2006/relationships/image" Target="/ppt/media/image9.jpeg" Id="Rda208e48c7f34bbd" /><Relationship Type="http://schemas.openxmlformats.org/officeDocument/2006/relationships/notesSlide" Target="/ppt/notesSlides/notesSlide10.xml" Id="R2d91447a345f44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f95c06da4b93" /><Relationship Type="http://schemas.openxmlformats.org/officeDocument/2006/relationships/image" Target="/ppt/media/image10.jpeg" Id="R28ae0b22928443f2" /><Relationship Type="http://schemas.openxmlformats.org/officeDocument/2006/relationships/notesSlide" Target="/ppt/notesSlides/notesSlide11.xml" Id="R1373d8674f314e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9700a99504440" /><Relationship Type="http://schemas.openxmlformats.org/officeDocument/2006/relationships/image" Target="/ppt/media/image11.jpeg" Id="Rfa9790f86e7d41cb" /><Relationship Type="http://schemas.openxmlformats.org/officeDocument/2006/relationships/notesSlide" Target="/ppt/notesSlides/notesSlide12.xml" Id="R02ad259ab02b40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63bcd5c394050" /><Relationship Type="http://schemas.openxmlformats.org/officeDocument/2006/relationships/image" Target="/ppt/media/image12.jpeg" Id="Rae3f76b9e4e34762" /><Relationship Type="http://schemas.openxmlformats.org/officeDocument/2006/relationships/image" Target="/ppt/media/image13.jpeg" Id="R63d5d5a5dc174c7e" /><Relationship Type="http://schemas.openxmlformats.org/officeDocument/2006/relationships/notesSlide" Target="/ppt/notesSlides/notesSlide13.xml" Id="Ra499cfc8e1ef47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a6a09f2774170" /><Relationship Type="http://schemas.openxmlformats.org/officeDocument/2006/relationships/image" Target="/ppt/media/image14.jpeg" Id="R58dd1804b654482a" /><Relationship Type="http://schemas.openxmlformats.org/officeDocument/2006/relationships/notesSlide" Target="/ppt/notesSlides/notesSlide14.xml" Id="R9511410c2fdd44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b25857d8a4da7" /><Relationship Type="http://schemas.openxmlformats.org/officeDocument/2006/relationships/image" Target="/ppt/media/image15.jpeg" Id="R69427b5720ad4a87" /><Relationship Type="http://schemas.openxmlformats.org/officeDocument/2006/relationships/image" Target="/ppt/media/image16.jpeg" Id="R3e15b49e244b4ae6" /><Relationship Type="http://schemas.openxmlformats.org/officeDocument/2006/relationships/notesSlide" Target="/ppt/notesSlides/notesSlide15.xml" Id="R4eaaca1658d148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4e5be5004b24" /><Relationship Type="http://schemas.openxmlformats.org/officeDocument/2006/relationships/notesSlide" Target="/ppt/notesSlides/notesSlide16.xml" Id="Rbd76860e57d547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d2816f35e45a5" /><Relationship Type="http://schemas.openxmlformats.org/officeDocument/2006/relationships/notesSlide" Target="/ppt/notesSlides/notesSlide17.xml" Id="R389c8d59840d47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21b9031e648cb" /><Relationship Type="http://schemas.openxmlformats.org/officeDocument/2006/relationships/notesSlide" Target="/ppt/notesSlides/notesSlide18.xml" Id="R7d92db1d0b324f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FC131-694C-4A80-9AA7-5B23721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5876-2E18-4ED4-855F-06BB3515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0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MANOCERCA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F80D2-6B4D-475A-9C10-9F257AD7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76350"/>
            <a:ext cx="5143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Mockups del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1B1E0-BCE7-4A0E-8E75-375454B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AF7E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AF7EF"/>
                </a:solidFill>
                <a:latin typeface="Noto Sans"/>
                <a:ea typeface="Noto Sans"/>
                <a:cs typeface="Noto Sans"/>
              </a:rPr>
              <a:t>Marketplace web de servicios para el hogar en Arequipa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CFCF3-9D58-422D-A10F-AC641D1A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19550"/>
            <a:ext cx="381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DB4A4-B1FB-444B-8203-103444C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05300"/>
            <a:ext cx="4724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Ámbito de implementación, módulos e interfaces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84662-C82F-4750-8200-FDDBD857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817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F0E8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E7F0E8"/>
                </a:solidFill>
                <a:latin typeface="Noto Sans"/>
                <a:ea typeface="Noto Sans"/>
                <a:cs typeface="Noto Sans"/>
              </a:rPr>
              <a:t>Entrega semanal · Octubre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2F856-7CA8-459D-AB8B-D6C1289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162050"/>
            <a:ext cx="5715000" cy="3629025"/>
          </a:xfrm>
          <a:prstGeom xmlns:a="http://schemas.openxmlformats.org/drawingml/2006/main" prst="roundRect">
            <a:avLst>
              <a:gd name="adj" fmla="val 2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b2385a60e40a7"/>
          <a:stretch xmlns:a="http://schemas.openxmlformats.org/drawingml/2006/main"/>
        </p:blipFill>
        <p:spPr>
          <a:xfrm xmlns:a="http://schemas.openxmlformats.org/drawingml/2006/main">
            <a:off x="6010275" y="1210538"/>
            <a:ext cx="5619750" cy="35320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67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EB9B97-0C5B-409F-810B-C0C699F8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5B05FE-7824-4BAE-A790-F1D2B191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Ámbito del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85E8-2901-423E-A025-3016E23E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9EE3E-118E-4B87-9C77-4AB3D417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Piloto web responsive en Arequipa para validar el ciclo completo de contratación.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58197-21DA-497F-9643-68FA8A6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90725"/>
            <a:ext cx="5305425" cy="3857625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CB9AF-259A-4A7F-A646-04EE7BF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Dentro del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B87F6-DA80-4FBE-8EC3-CD83C7A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FE5E3-8A7B-4710-A6CA-A2D2BA7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7177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Dos entradas: clientes y maestros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85A53-5E2B-4D32-BD9F-EF86AF4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F81B1-97E4-45BA-923E-BA6577F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194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Perfiles, búsqueda por oficio y zona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25074-F486-4913-BA97-5D045495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13337-AECE-4022-9E9F-9ECDDC58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6712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Solicitud con ubicación y fotos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3BEBA-E591-450E-9C39-D9C6DECB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2C1EE-88B5-4A2E-8AE6-99D69817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1480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Cotización, aceptación y seguimiento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7B21C-B28F-4DC4-A011-3A1790C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21195-7260-4B82-9877-77F901A5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62475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Reseñas, historial y recontratación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DB53D-BA0E-4229-912F-B707262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04775" cy="104775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4F9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65644-2039-4498-807C-813275B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10150"/>
            <a:ext cx="433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Notificaciones e incidencias simples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0247C-9F2E-4E37-B241-AD67BEC4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90725"/>
            <a:ext cx="5572125" cy="3857625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55DA6-128E-4EBB-9C3D-807FECC0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Fuera de la primera iteración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56D3A-EE3D-4C07-AFEC-ACAA4B61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26D65-6091-4922-8385-E99AFFE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289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Pagos dentro de la plataforma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0D31A-8BC1-4484-9EB0-07555057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57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54A7F-A716-4C26-9C17-985A6AC7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623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Verificación de identidad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592C1-FA70-4B40-B186-6EEE4C8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61A74-AB3B-4444-A935-37B9F53F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Chat en tiempo real y push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BFE07-576D-40A7-A0F4-53BC2F8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EEC5F-7861-4E66-AAD9-A2F4843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291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App móvil nativa y panel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E9A77-AE8E-47CC-83A1-74491715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7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330FDE-29A7-4C8B-9B26-C1B3759F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625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Videos y planes B2B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F2D01-1598-4404-A803-0CD14CB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Meta del piloto: 10–20 maestros incorporados manualmente.</a:t>
            </a:r>
          </a:p>
        </p:txBody>
      </p:sp>
    </p:spTree>
    <p:extLst>
      <p:ext uri="{BB962C8B-B14F-4D97-AF65-F5344CB8AC3E}">
        <p14:creationId xmlns:p14="http://schemas.microsoft.com/office/powerpoint/2010/main" val="985374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48E80-89C9-434B-974B-2DB2B207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671799-3235-4207-AC83-13EE39FC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Flujo principal del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7E60A-D1EC-49FA-B6FE-FF915905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70405-2800-4B95-9646-840452EC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Las interfaces muestran el recorrido que el piloto buscará validar.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6CB5F-F94A-45E6-BB3C-68CD4AE7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076450" cy="28575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96AA6-B9CF-4182-804D-AA1A0F8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86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95655-F2BB-4ACA-BF0C-85C8865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4322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Publicar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92C8A-469E-4877-AB2D-E6A832E8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14725"/>
            <a:ext cx="1647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cliente describe el trabajo y ubica el servicio.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55AC3-3F61-4411-BA0E-EA4E609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76450"/>
            <a:ext cx="2076450" cy="28575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F01F2-A587-4B70-AD39-B1229D0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82072-C848-477D-ACA3-4624461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4322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Encontrar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7BEE-4960-4E75-961B-770914B1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14725"/>
            <a:ext cx="1647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Se muestran maestros por especialidad y zona.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F8815-DCBA-42C0-9B5B-94C9A3C3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76450"/>
            <a:ext cx="2076450" cy="28575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5C226-20E2-4638-B0F5-88D974C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59F85-5F05-4C36-95AE-953A0B1D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4322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Cotizar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971D8-FD98-4CA9-B7F8-AF0B8F20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14725"/>
            <a:ext cx="1647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maestro propone precio y alcance.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F923A-7589-4CC5-B1F7-7B15749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76450"/>
            <a:ext cx="2076450" cy="28575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29603-10BB-4F56-8987-C1D24174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86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CDE28-198B-4696-AC16-8A08289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4322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Contratar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35071-5D01-4D11-AC1E-F144383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14725"/>
            <a:ext cx="1647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cliente acepta y sigue el trabajo.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0C7A9-37FF-432D-853A-D23DE5D0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76450"/>
            <a:ext cx="2076450" cy="2857500"/>
          </a:xfrm>
          <a:prstGeom xmlns:a="http://schemas.openxmlformats.org/drawingml/2006/main" prst="roundRect">
            <a:avLst>
              <a:gd name="adj" fmla="val 6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B0FAA-4CE5-4767-91D1-2C4A4830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EF7E5B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CC888-585B-40E1-8B4E-5818159C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43225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Calificar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74FA3-BBFE-4322-8299-579E165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514725"/>
            <a:ext cx="1647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Ambas partes dejan una reseña al cerrar.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C4D76F-BD20-4358-AC6D-E5239439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Estado actual: recorrido navegable con datos de demostración guardados en el navegador.</a:t>
            </a:r>
          </a:p>
        </p:txBody>
      </p:sp>
    </p:spTree>
    <p:extLst>
      <p:ext uri="{BB962C8B-B14F-4D97-AF65-F5344CB8AC3E}">
        <p14:creationId xmlns:p14="http://schemas.microsoft.com/office/powerpoint/2010/main" val="1121704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64FB5-9892-4846-A2EB-E5B6B4A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07817D-AC2A-4993-8824-FE1781E8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Inicio para clientes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0FD0-1099-49DD-990D-FBBC0FEA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00FF4-498E-46B0-80C6-0996B99E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63A51-AC66-41CC-BC65-A5E6E0DD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FE36A-3DFC-4914-8FD2-F7AA141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eda1d1aed48ef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05128-B4A6-4DE7-80D0-1E858E4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FAEA1-6835-40D7-9668-BD4A59C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69529-63B4-43C7-B01C-48AF37AB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Propuesta de valor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DF43A-8176-432A-ADED-DCE40E8C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Presenta maestros cercanos para resolver trabajos del hogar.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86592-4E13-4191-A504-E1910740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A77D5-5303-43CC-8FB9-2878A2FD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CC8FF-D6EA-4AF4-82FA-7B0222E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Entrada al flujo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FF7AD-5AAB-4838-B97E-CC5EA37F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Acceso directo a publicar una solicitud y a ver cómo funciona.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3FC79-8193-4B99-B45F-F1F3EF19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CEDE3-3194-4C83-B2C5-76239FBA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DC765-382F-449B-BFB0-3965E46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Servicios visibles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A46CE-D123-4759-A9A4-DD902FD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Oficios frecuentes y perfiles destacados para explorar.</a:t>
            </a:r>
          </a:p>
        </p:txBody>
      </p:sp>
    </p:spTree>
    <p:extLst>
      <p:ext uri="{BB962C8B-B14F-4D97-AF65-F5344CB8AC3E}">
        <p14:creationId xmlns:p14="http://schemas.microsoft.com/office/powerpoint/2010/main" val="1582818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327C4-C6F4-4CC1-9488-BB7E4698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0B1BC-537E-4432-9D65-23038D5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Inicio para maestros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5A241-FCC3-431A-9A2D-DB510AB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57799-5E06-4CB1-ADF2-8D45BA13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78D7F-EEA5-4681-B2AC-A6EAC06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A96D-1D73-4177-9B5A-2EFEC3A9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a2809557e4cd0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66F82-ED0D-4E46-974C-FE3ACACE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70BA2-6CBD-4896-BA68-7690202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63A0-6DA0-4B1A-AC2F-9FBB0E2D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Captación de oferta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82537-589B-4F93-9286-552D353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Página propia para atraer profesionales del piloto.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BCDF3-D594-46DF-AB5C-3FE45F54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97372-FE7D-4979-A454-D5889F85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2958C-70E5-438C-AAC1-06CF1AB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Beneficios claros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33F42-E944-4365-8828-91A3240D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Registro gratuito, trabajos de la zona y reputación digital.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B94CB-13F1-4E75-95B8-1CC699C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C400E-CAA8-4DD8-A788-41B73599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BA1E7-EB04-49E8-A969-BF179A8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Conversión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154F1-2D7F-46DB-94E5-C7F59B6A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Botón destacado para crear el perfil de maestro.</a:t>
            </a:r>
          </a:p>
        </p:txBody>
      </p:sp>
    </p:spTree>
    <p:extLst>
      <p:ext uri="{BB962C8B-B14F-4D97-AF65-F5344CB8AC3E}">
        <p14:creationId xmlns:p14="http://schemas.microsoft.com/office/powerpoint/2010/main" val="163782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68368-C705-4CC7-A736-3DA9E72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77E30-8C86-488A-9996-EC10EFC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Exploración de profesionales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25365-D0FB-4E15-9621-C36BBCD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4FC72-DAEF-47AA-BED6-679700D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318A-48A9-48B8-AC3D-DCAE106B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DE19D-778C-4C0D-AE37-E87901A3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522f0429449de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58B3E-3B9C-4850-9593-949224C9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60AC4-71AA-4E05-877D-F4BAB264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F850D-5112-4039-9241-090F2AE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Filtros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4B03E-6725-4239-93B1-7098E2AD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Especialidad, distrito y disponibilidad.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95E14-C19F-4576-9C9F-2562F92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37649-D07A-49FC-83D8-E0358BD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21ED2-DD04-4A07-86A1-BE297D1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Comparación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1CC55-4F0B-4A6A-A5CC-E7C5F5F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Tarjetas con oficio, zona, experiencia y calificación.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2BDBD-CF8E-4DF5-BF00-412D78E0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3DD8E-B525-4814-8845-59E489C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F68D2-17E8-45BF-B592-E297DEEE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Matching previsto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6927B-B006-43DE-8355-75905B9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La implementación real consultará distancia con PostGIS.</a:t>
            </a:r>
          </a:p>
        </p:txBody>
      </p:sp>
    </p:spTree>
    <p:extLst>
      <p:ext uri="{BB962C8B-B14F-4D97-AF65-F5344CB8AC3E}">
        <p14:creationId xmlns:p14="http://schemas.microsoft.com/office/powerpoint/2010/main" val="1851436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468B3-AA10-4E40-AF63-41AE262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485EE7-79B1-4004-99A3-F459538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Perfil y reputación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77854-FA96-4619-A6B5-E2C14670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B99EB-ACE6-449C-8684-5093F76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4947-A91A-447D-B81B-AD8AD42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5763-A57F-42AA-BD8B-8427A2F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e470c76b40a6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C2D30-E083-4D36-BF27-E54418CA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127F5-4670-4499-8941-E561E9B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E0386-2FEC-4F79-A9DA-8104AB0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Datos del maestro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BC79A-1C69-472A-A88D-0667BD9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Experiencia, oficio, zona y disponibilidad.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E89D7-68CC-4028-95C7-2E0CDDB5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BFF94-60B8-4DFF-B4E7-30686E6A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FA4A1-EFAE-4CCD-9626-DAACBBB4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Confianza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BCE3E-5C47-4C9D-98E8-A31FD86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Calificación y trabajos completados en el perfil.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789A7-AB31-4088-867D-24F7AA8C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7B703-43F4-484B-9332-B1076B72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A2DE6-2D34-4610-ACC7-42D3EE5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DDC57-006F-4B5C-8896-C7EC82F4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cliente puede solicitar una cotización dirigida.</a:t>
            </a:r>
          </a:p>
        </p:txBody>
      </p:sp>
    </p:spTree>
    <p:extLst>
      <p:ext uri="{BB962C8B-B14F-4D97-AF65-F5344CB8AC3E}">
        <p14:creationId xmlns:p14="http://schemas.microsoft.com/office/powerpoint/2010/main" val="999936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294F5-35D4-4589-BB5A-F2EC76C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44A79B-4288-46B9-BCBA-6B7B0F0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Registro y acceso por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723F7-4E8A-466F-9B5B-217775F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A452E-35C6-46E6-864E-106AB135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9C70D-BA74-4E80-9704-6C6FF12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45327-3AD6-4964-8C39-75758265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5362575" cy="3409950"/>
          </a:xfrm>
          <a:prstGeom xmlns:a="http://schemas.openxmlformats.org/drawingml/2006/main" prst="roundRect">
            <a:avLst>
              <a:gd name="adj" fmla="val 2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5e695960470e"/>
          <a:stretch xmlns:a="http://schemas.openxmlformats.org/drawingml/2006/main"/>
        </p:blipFill>
        <p:spPr>
          <a:xfrm xmlns:a="http://schemas.openxmlformats.org/drawingml/2006/main">
            <a:off x="523875" y="1735626"/>
            <a:ext cx="5267325" cy="331054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41B5B-B71C-4834-9BCC-34D3B3C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85925"/>
            <a:ext cx="5362575" cy="3409950"/>
          </a:xfrm>
          <a:prstGeom xmlns:a="http://schemas.openxmlformats.org/drawingml/2006/main" prst="roundRect">
            <a:avLst>
              <a:gd name="adj" fmla="val 2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491481d884659"/>
          <a:stretch xmlns:a="http://schemas.openxmlformats.org/drawingml/2006/main"/>
        </p:blipFill>
        <p:spPr>
          <a:xfrm xmlns:a="http://schemas.openxmlformats.org/drawingml/2006/main">
            <a:off x="6381750" y="1735626"/>
            <a:ext cx="5267325" cy="331054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3C6F9-70B3-4061-AED1-F24736A5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2333625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6E519-B95E-4785-8CFF-DA16A0D0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INGRESO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53007-7CAE-4AC3-9E26-D452AD70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2333625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FCB55-10F0-4537-9A1A-56098AB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REGISTRO DE MAESTRO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CD92D-6B0A-48FB-ACD7-5605530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El mockup permite entrar como cliente o maestro sin contraseña. En el piloto se usará Supabase Auth con correo y contraseña.</a:t>
            </a:r>
          </a:p>
        </p:txBody>
      </p:sp>
    </p:spTree>
    <p:extLst>
      <p:ext uri="{BB962C8B-B14F-4D97-AF65-F5344CB8AC3E}">
        <p14:creationId xmlns:p14="http://schemas.microsoft.com/office/powerpoint/2010/main" val="1808836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0B7FC-BFCA-4F32-8E61-936D16F5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D08EA3-9004-4516-A73E-1AF8159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Creación de solicitudes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E6223-7FA4-4F97-B44C-2F94AE8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56BB3-EAA8-41B1-836F-6E6F288D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EDC56-31DA-432E-B6BC-6F871637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FB87-92C5-4E98-BBD8-279C7114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589c74c5b4eb8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732A-F6B7-41F7-A53B-0FA65468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C972E-907F-411E-8EBC-C08A844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60E06-C644-4FF6-8AA0-DAFF70A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Trabajo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2BC99-F7F4-4626-A0A7-FE04EBF3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Se elige el oficio y se describe el problema.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B8BE1-392E-467B-9D14-3FA6CF7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D2033-E7EB-48EB-8652-79936209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A2ED9-EA00-4FBD-B61A-EE993F5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Ubicación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ABCD6-C903-4FB6-8725-498A1DC6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Distrito, referencia y un pin en el mapa.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F4EC3-EBAC-49DB-AA0A-128DDCA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50C56-6FD6-4FD3-936B-D05FFC51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C60B1-5217-4E5C-B517-B4CB716B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Resultado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84B7F-9AA7-438F-97A4-556E8CC6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La solicitud llega a maestros de la especialidad.</a:t>
            </a:r>
          </a:p>
        </p:txBody>
      </p:sp>
    </p:spTree>
    <p:extLst>
      <p:ext uri="{BB962C8B-B14F-4D97-AF65-F5344CB8AC3E}">
        <p14:creationId xmlns:p14="http://schemas.microsoft.com/office/powerpoint/2010/main" val="1386997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AEB8A-3CAA-47BE-A005-03DAE04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F2E5F-F80F-4109-9782-8650A36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Mapa, fotos y urgencia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484D5-192E-4BF2-BC02-FAD5E1C9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6170B-531B-41A4-93DB-F7BDF61A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0169D-B361-4DEB-8C37-202264D7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84F03-B2E5-43C0-B2C0-86E64D46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08e48c7f34bbd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76AB7-D406-4975-A5AA-6DDA9C67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C187E-120B-40F2-845C-6B08B96F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A29A-70B9-45A4-9C0F-C7AAA2EB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Mapa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8071B-6436-4F3C-8DFB-1A91E69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Leaflet muestra OpenStreetMap centrado en Arequipa.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99DFB-4A48-4358-973C-68E4B087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A7C8C-BCB9-4244-BB1A-56A3745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BEB74-E08D-4EB9-AF61-167E3A75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Fotos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8D9B7-8D7D-4243-A6B7-191C59B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cliente podrá adjuntar imágenes del problema.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0AEA-DB24-4820-9823-76A5A8C6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51DCA-B983-4C55-9AE0-0A0F73D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4F8B1-916A-4086-80CD-46FBE10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Plazo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737DC-DD4B-42A3-9F0D-204B540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Puede indicar urgencia o fecha preferida.</a:t>
            </a:r>
          </a:p>
        </p:txBody>
      </p:sp>
    </p:spTree>
    <p:extLst>
      <p:ext uri="{BB962C8B-B14F-4D97-AF65-F5344CB8AC3E}">
        <p14:creationId xmlns:p14="http://schemas.microsoft.com/office/powerpoint/2010/main" val="1987039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B78DF-A998-493E-8186-C8E728D1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A699A8-7EF5-49F6-B654-28A3C57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Panel del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30263-0E5A-4392-ABE6-377D5D9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28DA4-0A79-46DC-8E36-7A74880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D9AEF-42F2-4DFB-92DF-D69EF48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BF618-6091-4E09-9478-93EE74C1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e0b22928443f2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5665F-55E8-46FE-A582-4A249366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861C0-C2B1-478C-9FBC-8202761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23C19-9FBD-4CC7-9776-9E0C615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Resumen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DCD60-638D-48CE-AD85-1532D3D1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Cuenta solicitudes, cotizaciones y servicios.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3A4D9-3590-4CDB-A861-CA072EC3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5640-DA33-4FFC-B9CE-FB60A423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91A57-1B0B-417D-B946-788C13EB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Seguimiento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733B2-0C6D-4768-AA6A-D0513B5C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Cada trabajo muestra su estado y abre el detalle.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97D4A-22A3-4879-B949-D47D184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95DA0-438D-43D2-9C9C-E01972DA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6BE37-FFB3-4AE0-9C97-E9FDA89E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Accesos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5A349-A7D5-4178-9103-37215BA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Historial, incidencias, avisos y perfil en un lugar.</a:t>
            </a:r>
          </a:p>
        </p:txBody>
      </p:sp>
    </p:spTree>
    <p:extLst>
      <p:ext uri="{BB962C8B-B14F-4D97-AF65-F5344CB8AC3E}">
        <p14:creationId xmlns:p14="http://schemas.microsoft.com/office/powerpoint/2010/main" val="1672413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D8794-A1E2-462C-932E-5E33849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37EDC9-C2C1-49EB-8607-478878F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Cotización y contratación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38EF0-E5FD-4BB9-BC16-1D7F52CC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6FA57-AFA4-41C0-8911-813D0DE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A8F51-87DD-4209-8F40-F1E7105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445DF-635B-4D57-8C80-4EFC8E5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790f86e7d41cb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CA439-93C4-46B4-A2A6-BE28717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4990C-6B8D-4011-A495-BEE00120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D3891-2E71-45FA-9554-4FC66F1C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Propuesta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4F568-F866-4A33-BA1D-BB6748A4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Se ve precio, alcance y observaciones del maestro.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A8D8A-8274-4066-947C-5F5FC45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DEF6C-36E7-4167-8E3D-35954505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27E78-89A0-4782-847F-7077895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D47D3-5C73-4D7B-B22C-BB209F6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El cliente puede aceptar o rechazar.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F8815-F86E-4A67-95DF-794F03F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FA8B9-28D4-4FC4-9877-81CE038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48CE5-052C-432A-B212-91D828E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Versiones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AD6E9-4C50-4EB0-B543-8961BF60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Un cambio de precio genera una nueva cotización.</a:t>
            </a:r>
          </a:p>
        </p:txBody>
      </p:sp>
    </p:spTree>
    <p:extLst>
      <p:ext uri="{BB962C8B-B14F-4D97-AF65-F5344CB8AC3E}">
        <p14:creationId xmlns:p14="http://schemas.microsoft.com/office/powerpoint/2010/main" val="468556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4D826-FBE9-4AFA-9EC0-843F7E8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E265B-5D85-4494-B247-3363DC8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Espacio del maestro y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41B8C-8873-44D1-B4AA-54CD29F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0E161-11F7-4C48-ACF1-C3C97033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3541B-187E-401A-87CF-5268F7C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1FA1D-2FAB-4EF8-A22E-464B3D5A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5334000" cy="339090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f76b9e4e34762"/>
          <a:stretch xmlns:a="http://schemas.openxmlformats.org/drawingml/2006/main"/>
        </p:blipFill>
        <p:spPr>
          <a:xfrm xmlns:a="http://schemas.openxmlformats.org/drawingml/2006/main">
            <a:off x="523875" y="1716031"/>
            <a:ext cx="5238750" cy="32925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D68A8-70C0-4561-99FF-6CAAB27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334000" cy="339090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5d5a5dc174c7e"/>
          <a:stretch xmlns:a="http://schemas.openxmlformats.org/drawingml/2006/main"/>
        </p:blipFill>
        <p:spPr>
          <a:xfrm xmlns:a="http://schemas.openxmlformats.org/drawingml/2006/main">
            <a:off x="6410325" y="1716031"/>
            <a:ext cx="5238750" cy="329258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614F8-60EC-4E45-93EF-5A309469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2857500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A3A7-4DF0-4911-A46A-B2B540B4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SOLICITUDES DE SU OFICIO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AF826-A136-44E9-AEE7-7AA9349F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00650"/>
            <a:ext cx="2857500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DC485-74E6-4A1D-97F3-8CCF63E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PRECIO Y ALCANCE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80C01-1C50-41A1-BFEC-F7E8C18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525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El maestro revisa trabajos de su especialidad, envía una propuesta y luego actualiza el estado del servicio.</a:t>
            </a:r>
          </a:p>
        </p:txBody>
      </p:sp>
    </p:spTree>
    <p:extLst>
      <p:ext uri="{BB962C8B-B14F-4D97-AF65-F5344CB8AC3E}">
        <p14:creationId xmlns:p14="http://schemas.microsoft.com/office/powerpoint/2010/main" val="1191423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DDBFB-1221-420A-B9EA-3A27BB3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9A93B5-502C-4F7D-9645-8F6E8FF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Seguimiento y cierre del servicio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789BD-6BB9-4709-B682-08198262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B815F-3271-48D6-9516-F94DBE65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574FB-3ADB-467E-B752-204E9E1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CBBA6-7502-4CE0-BDF3-2D0EA33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991475" cy="5057775"/>
          </a:xfrm>
          <a:prstGeom xmlns:a="http://schemas.openxmlformats.org/drawingml/2006/main" prst="roundRect">
            <a:avLst>
              <a:gd name="adj" fmla="val 1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d1804b654482a"/>
          <a:stretch xmlns:a="http://schemas.openxmlformats.org/drawingml/2006/main"/>
        </p:blipFill>
        <p:spPr>
          <a:xfrm xmlns:a="http://schemas.openxmlformats.org/drawingml/2006/main">
            <a:off x="524116" y="1457325"/>
            <a:ext cx="7895742" cy="49625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D5D2C-39E2-43B0-9053-A309BD85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299BF-040F-426B-874F-B0303D93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11004-7F08-48EC-9EA3-17CAF70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Estados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AA747-08AF-4F7E-90F9-DDFF64C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Publicado, aceptado, en camino y completado.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1EA9A-2E8E-4206-9894-FB545E7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11DF2-CBE2-4C82-A6AA-1B7DDD69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0D2BD-19AE-4FEC-B1AA-14A09C3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Calificación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3CA9F-D308-4789-A85B-E0A50C6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57575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La reseña se habilita tras completar el servicio.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B8B08-D3AD-4DC3-AB61-B753A7E3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B5563-AE6C-40E4-9F1F-CAA69F5A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26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DC0AB-76B4-4B85-8161-7DD91B8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Soporte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9090A-40DE-4F8D-AD97-3CC99F4E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9650"/>
            <a:ext cx="2590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Una incidencia queda vinculada al trabajo.</a:t>
            </a:r>
          </a:p>
        </p:txBody>
      </p:sp>
    </p:spTree>
    <p:extLst>
      <p:ext uri="{BB962C8B-B14F-4D97-AF65-F5344CB8AC3E}">
        <p14:creationId xmlns:p14="http://schemas.microsoft.com/office/powerpoint/2010/main" val="341869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C3A03-8AC9-4053-89AA-FC84DD6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D65BEF-CBF5-4BAC-9D69-3BD62BFB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Historial y notificaciones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0CA0-21CF-4FBC-A4B2-6077274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87773-C8AC-42E5-8B88-B7369537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30480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32DF3-FC12-4A5B-BBF4-9DBDA1F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MOCKUP NAVEGABLE · DATOS SIMULADOS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51485-364C-49E2-B9A7-C94BFAB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5334000" cy="339090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27b5720ad4a87"/>
          <a:stretch xmlns:a="http://schemas.openxmlformats.org/drawingml/2006/main"/>
        </p:blipFill>
        <p:spPr>
          <a:xfrm xmlns:a="http://schemas.openxmlformats.org/drawingml/2006/main">
            <a:off x="523875" y="1716031"/>
            <a:ext cx="5238750" cy="32925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6B0C4-092B-4359-B776-D4B2E6D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334000" cy="339090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5b49e244b4ae6"/>
          <a:stretch xmlns:a="http://schemas.openxmlformats.org/drawingml/2006/main"/>
        </p:blipFill>
        <p:spPr>
          <a:xfrm xmlns:a="http://schemas.openxmlformats.org/drawingml/2006/main">
            <a:off x="6410325" y="1716031"/>
            <a:ext cx="5238750" cy="329258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AE8FE-12EA-4E8A-BC0F-17328A2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00650"/>
            <a:ext cx="2809875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32DCC-BFA9-4633-9B16-BD53A10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VOLVER A CONTRATAR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8688A-CF5B-494C-BD17-0A030AA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200650"/>
            <a:ext cx="2809875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84AAC-58D7-4ABE-9646-CCA39189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97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AVISOS DEL SERVICIO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E86BB-AAA2-4BF7-B44E-2804AE09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El historial facilita repetir un servicio. La bandeja reúne cambios de cotizaciones y estados para el usuario.</a:t>
            </a:r>
          </a:p>
        </p:txBody>
      </p:sp>
    </p:spTree>
    <p:extLst>
      <p:ext uri="{BB962C8B-B14F-4D97-AF65-F5344CB8AC3E}">
        <p14:creationId xmlns:p14="http://schemas.microsoft.com/office/powerpoint/2010/main" val="17502575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A2FF2-84FA-4B53-A8A2-9F5BF64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AFADB-09FF-4F6D-AFC1-C02947A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Arquitectura técnica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A1B07-D0AD-4868-8011-5CF0E98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4AE3E-0673-41B8-9074-775195C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3822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La primera versión usará un frontend web y servicios administrados.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F68E7-B75B-41E1-9F67-B27DC78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81175"/>
            <a:ext cx="3352800" cy="3152775"/>
          </a:xfrm>
          <a:prstGeom xmlns:a="http://schemas.openxmlformats.org/drawingml/2006/main" prst="roundRect">
            <a:avLst>
              <a:gd name="adj" fmla="val 5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8F6E8-6049-4A79-BD3C-ACA12E7F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977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66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EBEBB-250C-4844-BC46-CD0DC2DC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193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Angular 21 +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03709-C722-4332-AFCC-7B67EDF5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Interfaz responsive, rutas por módulo y estado con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7EA3D-610A-44F1-BDCA-F117EC2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81175"/>
            <a:ext cx="3352800" cy="3152775"/>
          </a:xfrm>
          <a:prstGeom xmlns:a="http://schemas.openxmlformats.org/drawingml/2006/main" prst="roundRect">
            <a:avLst>
              <a:gd name="adj" fmla="val 513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12862-7589-429A-AAB2-2D7EF22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09775"/>
            <a:ext cx="2895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66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Backend administrado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92076-5287-4E63-B5D0-8106645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Supabase 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86C08-D3B2-4673-9242-F2A38C40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813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Auth, PostgreSQL, PostGIS, Storage y Realtime.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D7A6B-8570-4A40-8764-695BF9D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81175"/>
            <a:ext cx="3352800" cy="3152775"/>
          </a:xfrm>
          <a:prstGeom xmlns:a="http://schemas.openxmlformats.org/drawingml/2006/main" prst="roundRect">
            <a:avLst>
              <a:gd name="adj" fmla="val 5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A7EE2-6A7B-473B-92D2-7936BB35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66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Servicios externos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8D824-6AB0-4DAD-8FFE-E9A9FDC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19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93B36"/>
                </a:solidFill>
                <a:latin typeface="Noto Sans"/>
                <a:ea typeface="Noto Sans"/>
                <a:cs typeface="Noto Sans"/>
              </a:rPr>
              <a:t>Vercel + mapas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6815D-2067-407F-89C1-1C450AD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81350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Vercel publicará la web. Leaflet usará OpenStreetMap.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73347-493A-41FA-9872-94B6232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11049000" cy="771525"/>
          </a:xfrm>
          <a:prstGeom xmlns:a="http://schemas.openxmlformats.org/drawingml/2006/main" prst="roundRect">
            <a:avLst>
              <a:gd name="adj" fmla="val 16049"/>
            </a:avLst>
          </a:prstGeom>
          <a:solidFill xmlns:a="http://schemas.openxmlformats.org/drawingml/2006/main">
            <a:srgbClr val="173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F81E3-10CF-41C1-BF79-CA07410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Mockup actual: Angular y Leaflet en local. La conexión a Supabase Cloud queda para el piloto.</a:t>
            </a:r>
          </a:p>
        </p:txBody>
      </p:sp>
    </p:spTree>
    <p:extLst>
      <p:ext uri="{BB962C8B-B14F-4D97-AF65-F5344CB8AC3E}">
        <p14:creationId xmlns:p14="http://schemas.microsoft.com/office/powerpoint/2010/main" val="12602805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D9CA7-0094-444F-A4FC-831B8F30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EF4A32-28F1-44C4-9B3F-4AFB6BB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Frontend y frameworks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89F2A-C4AB-40F3-B2A5-D7F28B89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9D899-0BC0-4E52-9058-4DF525A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90650"/>
            <a:ext cx="11125200" cy="990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29A92-F528-4692-A377-323C4852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6B8-087F-4320-8925-5764F95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43050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Angular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3369F-BC50-49F9-AA69-E5322B61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3352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Componentes standalone, Angular Router y signals para las pantallas y el estado.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DFA03-A951-4CEA-853A-DD327BFB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1125200" cy="990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0079D-E0BD-4F93-A653-4300E4AF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E7803-4F48-4A86-90FB-B46522F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TypeScript + HTML/CSS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AEF90-005D-4186-B7FE-43AF994B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955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Tipado, formularios y diseño responsive. El mockup usa estilos propios.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3554C-6D70-4B17-ADA9-46A0AEC3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25200" cy="990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10A84-DA0B-45FB-810D-ABD8321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92FCB-571A-44EA-8566-5A4B1B7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Leaflet + OpenStreetMap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0CF03-EEB5-49A0-9E63-1A2C764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Mapa interactivo para marcar la ubicación de la solicitud.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6CA61-1D54-496C-9FC8-A68B5E68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1125200" cy="990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8C477-2A77-4B6A-95DD-02C6C7E2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17E3D-1B80-4C8C-B465-2A723FB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29200"/>
            <a:ext cx="3381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Angular Material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7AF8F-2010-4D20-BACD-2CE6E474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19675"/>
            <a:ext cx="6591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Biblioteca contemplada para estandarizar componentes en iteraciones del piloto.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90025-BEF0-4252-94A3-FE2343F1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38875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Entrega actual: interfaz navegable ejecutada en navegador con datos de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4686497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5C51C-A4A2-40A3-B182-2615D2DE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45BE57-AC47-4E95-B9EA-D1DAE0F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Backend, datos y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BBDD-AF80-4089-9D6A-F319DE0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857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48241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7D572-100C-4642-99DC-264A383C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5467350" cy="1866900"/>
          </a:xfrm>
          <a:prstGeom xmlns:a="http://schemas.openxmlformats.org/drawingml/2006/main" prst="roundRect">
            <a:avLst>
              <a:gd name="adj" fmla="val 7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F011F-6A62-48C5-821E-87B868E0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Supabase Auth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27E2E-5E80-4C00-A22A-92F4DC14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2885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Ingreso por correo y contraseña para clientes y maestros.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0916A-9C20-4F10-AEA9-F8C186C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5467350" cy="1866900"/>
          </a:xfrm>
          <a:prstGeom xmlns:a="http://schemas.openxmlformats.org/drawingml/2006/main" prst="roundRect">
            <a:avLst>
              <a:gd name="adj" fmla="val 7653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D8ADD-F99D-4EA9-8497-0C4C217A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PostgreSQL + PostGIS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19860-EC13-4FAE-A447-54015994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Solicitudes, cotizaciones y búsqueda por especialidad, zona y reputación.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BD485-B9A5-43D2-B888-6958CBD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14725"/>
            <a:ext cx="5467350" cy="1866900"/>
          </a:xfrm>
          <a:prstGeom xmlns:a="http://schemas.openxmlformats.org/drawingml/2006/main" prst="roundRect">
            <a:avLst>
              <a:gd name="adj" fmla="val 7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62E8D-EC9E-4142-814F-BEA72955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528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Storage + Realtime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66825-66DC-4095-A77D-0C202EF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Fotos y eventos para la bandeja de notificaciones.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C527D-365B-4CBC-B459-C59EC7A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5467350" cy="1866900"/>
          </a:xfrm>
          <a:prstGeom xmlns:a="http://schemas.openxmlformats.org/drawingml/2006/main" prst="roundRect">
            <a:avLst>
              <a:gd name="adj" fmla="val 7653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4579E-B551-409F-85FB-503B7E1A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F38"/>
                </a:solidFill>
                <a:latin typeface="Noto Sans"/>
                <a:ea typeface="Noto Sans"/>
                <a:cs typeface="Noto Sans"/>
              </a:rPr>
              <a:t>Vercel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3F772-CEC6-49F6-81F8-EBFFAA4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B716B"/>
                </a:solidFill>
                <a:latin typeface="Noto Sans"/>
                <a:ea typeface="Noto Sans"/>
                <a:cs typeface="Noto Sans"/>
              </a:rPr>
              <a:t>Publicación del frontend Angular con rutas web.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871A2-40FD-411B-B918-AE46356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57850"/>
            <a:ext cx="111252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5814A-4451-496C-870B-84FD802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70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Para esta entrega: demo sin credenciales. Para el piloto: activar Supabase, aplicar SQL y desplegar en Vercel.</a:t>
            </a:r>
          </a:p>
        </p:txBody>
      </p:sp>
    </p:spTree>
    <p:extLst>
      <p:ext uri="{BB962C8B-B14F-4D97-AF65-F5344CB8AC3E}">
        <p14:creationId xmlns:p14="http://schemas.microsoft.com/office/powerpoint/2010/main" val="1095575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2026-10-01T10:13:03.0720000Z</dcterms:created>
  <dcterms:modified xsi:type="dcterms:W3CDTF">2026-10-01T10:13:03.0720000Z</dcterms:modified>
</coreProperties>
</file>